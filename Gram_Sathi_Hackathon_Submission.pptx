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-regular.fntdata"/><Relationship Id="rId20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02729"/>
                </a:solidFill>
                <a:latin typeface="Manrope SemiBold"/>
              </a:rPr>
              <a:t>Team Name : Gram Sathi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02729"/>
                </a:solidFill>
                <a:latin typeface="Manrope SemiBold"/>
              </a:rPr>
              <a:t>Problem Statement : AI for Rural Innovation &amp; Sustainable Systems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02729"/>
                </a:solidFill>
                <a:latin typeface="Manrope SemiBold"/>
              </a:rPr>
              <a:t>Team Leader Name : &lt; Your Name &gt;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311700" y="86355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02729"/>
                </a:solidFill>
                <a:latin typeface="Manrope"/>
              </a:defRPr>
            </a:pPr>
            <a:r>
              <a:t>Brief about the Idea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1700" y="120000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  <a:latin typeface="Manrope"/>
              </a:defRPr>
            </a:pPr>
            <a:r>
              <a:t>GRAM SATHI — AI for 300 Million Indians Who Can't Use 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1700" y="155000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93B3B"/>
                </a:solidFill>
                <a:latin typeface="Manrope"/>
              </a:defRPr>
            </a:pPr>
            <a:r>
              <a:t>THE PROBLEM:</a:t>
            </a:r>
          </a:p>
          <a:p>
            <a:pPr>
              <a:spcAft>
                <a:spcPts val="400"/>
              </a:spcAft>
              <a:defRPr sz="1100" b="0">
                <a:solidFill>
                  <a:srgbClr val="202729"/>
                </a:solidFill>
                <a:latin typeface="Manrope"/>
              </a:defRPr>
            </a:pPr>
            <a:r>
              <a:t>300M+ Indians have no smartphone, no internet, no apps.</a:t>
            </a:r>
          </a:p>
          <a:p>
            <a:pPr>
              <a:spcAft>
                <a:spcPts val="400"/>
              </a:spcAft>
              <a:defRPr sz="1100" b="0">
                <a:solidFill>
                  <a:srgbClr val="202729"/>
                </a:solidFill>
                <a:latin typeface="Manrope"/>
              </a:defRPr>
            </a:pPr>
            <a:r>
              <a:t>Yet they grow the food that feeds 1.4 billion people.</a:t>
            </a:r>
          </a:p>
          <a:p>
            <a:pPr>
              <a:spcAft>
                <a:spcPts val="400"/>
              </a:spcAft>
              <a:defRPr sz="1100" b="0">
                <a:solidFill>
                  <a:srgbClr val="202729"/>
                </a:solidFill>
                <a:latin typeface="Manrope"/>
              </a:defRPr>
            </a:pPr>
            <a:r>
              <a:t>85% of farmers are small/marginal. Every existing AI solution excludes them.</a:t>
            </a:r>
          </a:p>
          <a:p>
            <a:pPr>
              <a:spcAft>
                <a:spcPts val="400"/>
              </a:spcAft>
              <a:defRPr sz="6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E67E22"/>
                </a:solidFill>
                <a:latin typeface="Manrope"/>
              </a:defRPr>
            </a:pPr>
            <a:r>
              <a:t>THE INSIGHT:</a:t>
            </a:r>
          </a:p>
          <a:p>
            <a:pPr>
              <a:spcAft>
                <a:spcPts val="400"/>
              </a:spcAft>
              <a:defRPr sz="1100" b="0">
                <a:solidFill>
                  <a:srgbClr val="202729"/>
                </a:solidFill>
                <a:latin typeface="Manrope"/>
              </a:defRPr>
            </a:pPr>
            <a:r>
              <a:t>But every one of them has a phone number.</a:t>
            </a:r>
          </a:p>
          <a:p>
            <a:pPr>
              <a:spcAft>
                <a:spcPts val="400"/>
              </a:spcAft>
              <a:defRPr sz="1100" b="0">
                <a:solidFill>
                  <a:srgbClr val="202729"/>
                </a:solidFill>
                <a:latin typeface="Manrope"/>
              </a:defRPr>
            </a:pPr>
            <a:r>
              <a:t>India processes 5 billion missed calls daily — it's the most instinctive digital action.</a:t>
            </a:r>
          </a:p>
          <a:p>
            <a:pPr>
              <a:spcAft>
                <a:spcPts val="400"/>
              </a:spcAft>
              <a:defRPr sz="6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0D8452"/>
                </a:solidFill>
                <a:latin typeface="Manrope"/>
              </a:defRPr>
            </a:pPr>
            <a:r>
              <a:t>THE SOLUTION:</a:t>
            </a:r>
          </a:p>
          <a:p>
            <a:pPr>
              <a:spcAft>
                <a:spcPts val="400"/>
              </a:spcAft>
              <a:defRPr sz="1100" b="1">
                <a:solidFill>
                  <a:srgbClr val="202729"/>
                </a:solidFill>
                <a:latin typeface="Manrope"/>
              </a:defRPr>
            </a:pPr>
            <a:r>
              <a:t>One missed call. Free of cost. AI calls you back.</a:t>
            </a:r>
          </a:p>
          <a:p>
            <a:pPr>
              <a:spcAft>
                <a:spcPts val="400"/>
              </a:spcAft>
              <a:defRPr sz="1100" b="0">
                <a:solidFill>
                  <a:srgbClr val="202729"/>
                </a:solidFill>
                <a:latin typeface="Manrope"/>
              </a:defRPr>
            </a:pPr>
            <a:r>
              <a:t>Farmer speaks in their language → AI agent fetches live mandi prices, weather,</a:t>
            </a:r>
          </a:p>
          <a:p>
            <a:pPr>
              <a:spcAft>
                <a:spcPts val="400"/>
              </a:spcAft>
              <a:defRPr sz="1100" b="0">
                <a:solidFill>
                  <a:srgbClr val="202729"/>
                </a:solidFill>
                <a:latin typeface="Manrope"/>
              </a:defRPr>
            </a:pPr>
            <a:r>
              <a:t>government scheme eligibility → responds via voice. No app. No internet.</a:t>
            </a:r>
          </a:p>
          <a:p>
            <a:pPr>
              <a:spcAft>
                <a:spcPts val="400"/>
              </a:spcAft>
              <a:defRPr sz="1100" b="0">
                <a:solidFill>
                  <a:srgbClr val="202729"/>
                </a:solidFill>
                <a:latin typeface="Manrope"/>
              </a:defRPr>
            </a:pPr>
            <a:r>
              <a:t>No smartphone. Just your voice.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0" y="1550000"/>
            <a:ext cx="2926080" cy="256032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anrope"/>
              </a:defRPr>
            </a:pPr>
            <a:r>
              <a:t>&lt; IMAGE: Split illustration — Left side (greyed out): Smartphone with AI chat app crossed out with a red X. Right side (vibrant): A farmer holding a basic feature phone to his ear, smiling, with speech bubbles showing mandi prices in Hindi. Large '300M+' stat overlaid. Background: rural Indian landscape. 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TextBox 68"/>
          <p:cNvSpPr txBox="1"/>
          <p:nvPr/>
        </p:nvSpPr>
        <p:spPr>
          <a:xfrm>
            <a:off x="311700" y="86355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729"/>
                </a:solidFill>
                <a:latin typeface="Manrope"/>
              </a:defRPr>
            </a:pPr>
            <a:r>
              <a:t>Why Everything Else Fails — And Why We Don't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1700" y="12000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WHAT EXISTS TODAY vs GRAM SATHI:</a:t>
            </a:r>
          </a:p>
          <a:p>
            <a:pPr>
              <a:spcAft>
                <a:spcPts val="400"/>
              </a:spcAft>
              <a:defRPr sz="4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D93B3B"/>
                </a:solidFill>
                <a:latin typeface="Manrope"/>
              </a:defRPr>
            </a:pPr>
            <a:r>
              <a:t>Farmer.Chat, KisanGPT, AgroTalk, Bharat-VISTAAR → ALL need a smartphone + internet</a:t>
            </a:r>
          </a:p>
          <a:p>
            <a:pPr>
              <a:spcAft>
                <a:spcPts val="400"/>
              </a:spcAft>
              <a:defRPr sz="1000" b="0">
                <a:solidFill>
                  <a:srgbClr val="0D8452"/>
                </a:solidFill>
                <a:latin typeface="Manrope"/>
              </a:defRPr>
            </a:pPr>
            <a:r>
              <a:t>Gram Sathi → Works on a ₹500 Nokia. Zero cost. Zero internet. Zero literacy needed.</a:t>
            </a:r>
          </a:p>
          <a:p>
            <a:pPr>
              <a:spcAft>
                <a:spcPts val="400"/>
              </a:spcAft>
              <a:defRPr sz="4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HOW IT SOLVES THE PROBLEM: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Step 1: Farmer dials our number, hangs up (₹0 — missed call)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Step 2: AI detects missed call, calls back in 5 seconds (we pay)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Step 3: AI agent speaks in farmer's language (22 languages, auto-detected)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Step 4: Agent pulls LIVE data — mandi prices, weather, scheme eligibility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Step 5: Farmer gets actionable answer. Profile saved. Next call is smarter.</a:t>
            </a:r>
          </a:p>
          <a:p>
            <a:pPr>
              <a:spcAft>
                <a:spcPts val="400"/>
              </a:spcAft>
              <a:defRPr sz="4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3 USPs THAT MAKE THIS UNBEATABLE:</a:t>
            </a:r>
          </a:p>
          <a:p>
            <a:pPr>
              <a:spcAft>
                <a:spcPts val="400"/>
              </a:spcAft>
              <a:defRPr sz="2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1. Missed Call = Our Interface — We didn't invent a new behavior. We hijacked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   the most instinctive digital action in India (5B missed calls/day).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2. Agentic AI, Not a Chatbot — 5 tool-calling agents on Amazon Bedrock fetch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   real-time data. Two LLM inferences per tool call. Not hallucinated advice.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3. 22 Languages, Zero Menus — Sarvam AI auto-detects language from first sentence.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   No 'Press 1 for Hindi'. Just speak naturally.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0" y="1200000"/>
            <a:ext cx="2743200" cy="292608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anrope"/>
              </a:defRPr>
            </a:pPr>
            <a:r>
              <a:t>&lt; IMAGE: Before/After split visual — Left side (red/grey tones): Frustrated farmer traveling 20km to mandi, waiting at block office, asking input dealer. Right side (green/blue tones): Same farmer at home with feature phone — speech bubbles showing live prices, weather alerts, scheme matches. Arrow from left to right labeled 'One Missed Call'. 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311700" y="86355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729"/>
                </a:solidFill>
                <a:latin typeface="Manrope"/>
              </a:defRPr>
            </a:pPr>
            <a:r>
              <a:t>Features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1700" y="12000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🌾  LIVE MANDI PRICES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Real-time prices from 1,266 mandis via eNAM/data.gov.in.</a:t>
            </a:r>
          </a:p>
          <a:p>
            <a:pPr>
              <a:spcAft>
                <a:spcPts val="400"/>
              </a:spcAft>
              <a:defRPr sz="900" b="0">
                <a:solidFill>
                  <a:srgbClr val="434343"/>
                </a:solidFill>
                <a:latin typeface="Manrope"/>
              </a:defRPr>
            </a:pPr>
            <a:r>
              <a:t>Best mandi recommendation. Price trend alerts.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🌧️  WEATHER INTELLIGENCE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5-day hyperlocal forecast. Rainfall, temp, humidity.</a:t>
            </a:r>
          </a:p>
          <a:p>
            <a:pPr>
              <a:spcAft>
                <a:spcPts val="400"/>
              </a:spcAft>
              <a:defRPr sz="900" b="0">
                <a:solidFill>
                  <a:srgbClr val="434343"/>
                </a:solidFill>
                <a:latin typeface="Manrope"/>
              </a:defRPr>
            </a:pPr>
            <a:r>
              <a:t>Severe weather warnings (hailstorm, frost, heatwave).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📋  SCHEME MATCHER (Amazon Q)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Auto-matches farmer profile against 1,000+ govt schemes.</a:t>
            </a:r>
          </a:p>
          <a:p>
            <a:pPr>
              <a:spcAft>
                <a:spcPts val="400"/>
              </a:spcAft>
              <a:defRPr sz="900" b="0">
                <a:solidFill>
                  <a:srgbClr val="434343"/>
                </a:solidFill>
                <a:latin typeface="Manrope"/>
              </a:defRPr>
            </a:pPr>
            <a:r>
              <a:t>PM-KISAN, PMFBY, Ayushman Bharat + state schemes.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🌱  CROP ADVISORY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Season &amp; weather-aware sowing, irrigation, pest advice.</a:t>
            </a:r>
          </a:p>
          <a:p>
            <a:pPr>
              <a:spcAft>
                <a:spcPts val="400"/>
              </a:spcAft>
              <a:defRPr sz="900" b="0">
                <a:solidFill>
                  <a:srgbClr val="434343"/>
                </a:solidFill>
                <a:latin typeface="Manrope"/>
              </a:defRPr>
            </a:pPr>
            <a:r>
              <a:t>Region-specific recommendations.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9120" y="12000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🧠  SMART FARMER PROFILE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Remembers state, district, crops, land size across calls.</a:t>
            </a:r>
          </a:p>
          <a:p>
            <a:pPr>
              <a:spcAft>
                <a:spcPts val="400"/>
              </a:spcAft>
              <a:defRPr sz="900" b="0">
                <a:solidFill>
                  <a:srgbClr val="434343"/>
                </a:solidFill>
                <a:latin typeface="Manrope"/>
              </a:defRPr>
            </a:pPr>
            <a:r>
              <a:t>Call 5 is instantly personalized. No re-explaining.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🔔  PROACTIVE ALERTS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AI CALLS THE FARMER — weather warnings before storms,</a:t>
            </a:r>
          </a:p>
          <a:p>
            <a:pPr>
              <a:spcAft>
                <a:spcPts val="400"/>
              </a:spcAft>
              <a:defRPr sz="900" b="0">
                <a:solidFill>
                  <a:srgbClr val="434343"/>
                </a:solidFill>
                <a:latin typeface="Manrope"/>
              </a:defRPr>
            </a:pPr>
            <a:r>
              <a:t>price spikes, scheme deadlines. Without being asked.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🗣️  22-LANGUAGE VOICE AI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Auto-detects language. No menus. No 'Press 1 for Hindi'.</a:t>
            </a:r>
          </a:p>
          <a:p>
            <a:pPr>
              <a:spcAft>
                <a:spcPts val="400"/>
              </a:spcAft>
              <a:defRPr sz="900" b="0">
                <a:solidFill>
                  <a:srgbClr val="434343"/>
                </a:solidFill>
                <a:latin typeface="Manrope"/>
              </a:defRPr>
            </a:pPr>
            <a:r>
              <a:t>Sarvam AI + Bhashini. Voice-first, zero-UI.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📊  MONITORING DASHBOARD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Real-time call logs, user analytics, query insights.</a:t>
            </a:r>
          </a:p>
          <a:p>
            <a:pPr>
              <a:spcAft>
                <a:spcPts val="400"/>
              </a:spcAft>
              <a:defRPr sz="900" b="0">
                <a:solidFill>
                  <a:srgbClr val="434343"/>
                </a:solidFill>
                <a:latin typeface="Manrope"/>
              </a:defRPr>
            </a:pPr>
            <a:r>
              <a:t>For NGOs, govt officials, FPOs to track adoption.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1700" y="3200400"/>
            <a:ext cx="7772400" cy="73152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anrope"/>
              </a:defRPr>
            </a:pPr>
            <a:r>
              <a:t>&lt; IMAGE: Hub-and-spoke diagram — Phone icon at center, 8 feature bubbles radiating outward (Mandi Prices, Weather, Schemes, Crop Advisory, Smart Profile, Proactive Alerts, 22 Languages, Dashboard). Each bubble has a small icon and 3-word label. Dark background, glowing connections. 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TextBox 80"/>
          <p:cNvSpPr txBox="1"/>
          <p:nvPr/>
        </p:nvSpPr>
        <p:spPr>
          <a:xfrm>
            <a:off x="311700" y="86355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729"/>
                </a:solidFill>
                <a:latin typeface="Manrope"/>
              </a:defRPr>
            </a:pPr>
            <a:r>
              <a:t>Process Flow — From Missed Call to AI Response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1700" y="1200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USER JOURNEY (6 Steps):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❶ MISSED CALL → Farmer dials Gram Sathi number, hangs up (₹0 cost)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❷ WEBHOOK → Exotel detects missed call, fires POST to our server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❸ CALLBACK → Server calls farmer back in 5 seconds via Exotel outbound API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❹ VOICE INPUT → Farmer speaks naturally in any language (Sarvam ASR auto-detects)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❺ AI PROCESSING → Bedrock Claude processes intent, calls tools (prices/weather/schemes)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❻ VOICE RESPONSE → AI responds with real data in farmer's language (Sarvam TTS)</a:t>
            </a:r>
          </a:p>
          <a:p>
            <a:pPr>
              <a:spcAft>
                <a:spcPts val="400"/>
              </a:spcAft>
              <a:defRPr sz="6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STREAMING PIPELINE (Why it's fast — ~1.5s response time):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Each stage streams to the next CONCURRENTLY, not sequentially: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Exotel Audio → Sarvam ASR (300ms) → Bedrock Claude + Tools (800ms) → Sarvam TTS (200ms)</a:t>
            </a:r>
          </a:p>
          <a:p>
            <a:pPr>
              <a:spcAft>
                <a:spcPts val="400"/>
              </a:spcAft>
              <a:defRPr sz="900" b="0">
                <a:solidFill>
                  <a:srgbClr val="434343"/>
                </a:solidFill>
                <a:latin typeface="Manrope"/>
              </a:defRPr>
            </a:pPr>
            <a:r>
              <a:t>Filler phrases ('Haan ji, dekhti hoon...') play while LLM processes = 0.5s perceived wait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0" y="1200000"/>
            <a:ext cx="3200400" cy="274320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anrope"/>
              </a:defRPr>
            </a:pPr>
            <a:r>
              <a:t>&lt; IMAGE: Horizontal storyboard / comic strip with 6 panels — Panel 1: Farmer with feature phone dialing. Panel 2: Phone ringing back (Gram Sathi Calling...). Panel 3: Speech bubble in Hindi 'Gehu ka bhav batao'. Panel 4: Gears/brain processing with eNAM + IMD + MyScheme logos. Panel 5: Speaker icon 'Gehu 1950 rupay per quintal'. Panel 6: Next morning — phone ringing with weather warning cloud. Arrows connecting each panel left to right. 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TextBox 86"/>
          <p:cNvSpPr txBox="1"/>
          <p:nvPr/>
        </p:nvSpPr>
        <p:spPr>
          <a:xfrm>
            <a:off x="311700" y="86355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729"/>
                </a:solidFill>
                <a:latin typeface="Manrope"/>
              </a:defRPr>
            </a:pPr>
            <a:r>
              <a:t>Wireframes &amp; Interface Mockups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700" y="1200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Gram Sathi has TWO interfaces: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202729"/>
                </a:solidFill>
                <a:latin typeface="Manrope"/>
              </a:defRPr>
            </a:pPr>
            <a:r>
              <a:t>1. FARMER INTERFACE = The Phone Call (Zero UI)</a:t>
            </a:r>
          </a:p>
          <a:p>
            <a:pPr>
              <a:spcAft>
                <a:spcPts val="400"/>
              </a:spcAft>
              <a:defRPr sz="900" b="0">
                <a:solidFill>
                  <a:srgbClr val="434343"/>
                </a:solidFill>
                <a:latin typeface="Manrope"/>
              </a:defRPr>
            </a:pPr>
            <a:r>
              <a:t>   No screens. No buttons. No app. The voice conversation IS the interface.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202729"/>
                </a:solidFill>
                <a:latin typeface="Manrope"/>
              </a:defRPr>
            </a:pPr>
            <a:r>
              <a:t>2. ADMIN DASHBOARD = Streamlit Web App (for NGOs/Govt)</a:t>
            </a:r>
          </a:p>
          <a:p>
            <a:pPr>
              <a:spcAft>
                <a:spcPts val="400"/>
              </a:spcAft>
              <a:defRPr sz="900" b="0">
                <a:solidFill>
                  <a:srgbClr val="434343"/>
                </a:solidFill>
                <a:latin typeface="Manrope"/>
              </a:defRPr>
            </a:pPr>
            <a:r>
              <a:t>   Call logs, farmer profiles, query analytics, alert management.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1700" y="2194560"/>
            <a:ext cx="3200400" cy="201168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anrope"/>
              </a:defRPr>
            </a:pPr>
            <a:r>
              <a:t>&lt; IMAGE: Phone call mockup — Simple phone screen showing: 'Gram Sathi - Call Active 00:47'. Speech bubbles: Farmer asks 'Tamatar ka bhav kitna hai aaj?' AI responds 'Lucknow mandi mein tamatar aaj 1,800 rupaye per quintal. Kanpur mein 2,100 hai — wahan bechein toh zyaada fayda hoga.' Show this as a clean phone UI wireframe. &gt;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40480" y="2194560"/>
            <a:ext cx="4389120" cy="201168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anrope"/>
              </a:defRPr>
            </a:pPr>
            <a:r>
              <a:t>&lt; IMAGE: Streamlit dashboard wireframe showing 4 panels — Top-left: Live Call Monitor (active calls with transcripts). Top-right: Farmer Profiles (table with name, state, crops, total calls). Bottom-left: Query Analytics (bar chart — 40% prices, 30% weather, 20% schemes, 10% crop advice). Bottom-right: Proactive Alerts queue (pending weather warnings). Use clean wireframe style with placeholder data. 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TextBox 92"/>
          <p:cNvSpPr txBox="1"/>
          <p:nvPr/>
        </p:nvSpPr>
        <p:spPr>
          <a:xfrm>
            <a:off x="311700" y="86355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729"/>
                </a:solidFill>
                <a:latin typeface="Manrope"/>
              </a:defRPr>
            </a:pPr>
            <a:r>
              <a:t>System Architecture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1700" y="12000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END-TO-END ARCHITECTURE: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FARMER (any phone) → Missed Call → EXOTEL (Cloud Telephony)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  → WebSocket 8kHz PCM audio → FASTAPI BACKEND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202729"/>
                </a:solidFill>
                <a:latin typeface="Manrope"/>
              </a:defRPr>
            </a:pPr>
            <a:r>
              <a:t>VOICE PIPELINE (streaming, concurrent):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  Exotel Audio → Sarvam ASR (WebSocket) → Amazon Bedrock Claude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  → Tool Execution → Sarvam TTS (WebSocket) → Exotel Audio Out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202729"/>
                </a:solidFill>
                <a:latin typeface="Manrope"/>
              </a:defRPr>
            </a:pPr>
            <a:r>
              <a:t>TOOL LAYER: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  data.gov.in (mandi prices) | IndianAPI (weather) | Amazon Q (schemes)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000" b="1">
                <a:solidFill>
                  <a:srgbClr val="202729"/>
                </a:solidFill>
                <a:latin typeface="Manrope"/>
              </a:defRPr>
            </a:pPr>
            <a:r>
              <a:t>DATA LAYER: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  PostgreSQL (profiles, logs) | Redis (cache, sessions) | HuggingFace (scheme data)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0" y="1050000"/>
            <a:ext cx="3657600" cy="292608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anrope"/>
              </a:defRPr>
            </a:pPr>
            <a:r>
              <a:t>&lt; IMAGE: Full system architecture diagram — Top: Farmer icon with phone → Exotel Cloud (ExoPhone, WebSocket, Callbacks). Middle: FastAPI Backend box containing: Telephony Gateway, Voice Pipeline (ASR→LLM→TTS shown as streaming arrows), Agent Layer, Tool Execution Layer. Bottom-left: Amazon Bedrock (Claude) icon. Bottom-center: Amazon Q Business (Scheme KB) icon. Bottom-right: External APIs (data.gov.in, IMD, eNAM) icons. Side: PostgreSQL + Redis databases. Use AWS architecture diagram style with official AWS service icons. 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311700" y="86355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729"/>
                </a:solidFill>
                <a:latin typeface="Manrope"/>
              </a:defRPr>
            </a:pPr>
            <a:r>
              <a:t>Technology Stack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700" y="12000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☁️  AWS SERVICES (Hackathon Required)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Amazon Bedrock — Claude LLM (ap-south-1 Mumbai)</a:t>
            </a:r>
          </a:p>
          <a:p>
            <a:pPr>
              <a:spcAft>
                <a:spcPts val="400"/>
              </a:spcAft>
              <a:defRPr sz="800" b="0">
                <a:solidFill>
                  <a:srgbClr val="434343"/>
                </a:solidFill>
                <a:latin typeface="Manrope"/>
              </a:defRPr>
            </a:pPr>
            <a:r>
              <a:t>  Function calling / tool use for live data retrieval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Amazon Q Business — Government scheme knowledge base</a:t>
            </a:r>
          </a:p>
          <a:p>
            <a:pPr>
              <a:spcAft>
                <a:spcPts val="400"/>
              </a:spcAft>
              <a:defRPr sz="800" b="0">
                <a:solidFill>
                  <a:srgbClr val="434343"/>
                </a:solidFill>
                <a:latin typeface="Manrope"/>
              </a:defRPr>
            </a:pPr>
            <a:r>
              <a:t>  1,000+ schemes from MyScheme.gov.in ingested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Kiro IDE — Spec-driven development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📞  TELEPHONY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Exotel — Indian cloud telephony (₹1000 free trial)</a:t>
            </a:r>
          </a:p>
          <a:p>
            <a:pPr>
              <a:spcAft>
                <a:spcPts val="400"/>
              </a:spcAft>
              <a:defRPr sz="800" b="0">
                <a:solidFill>
                  <a:srgbClr val="434343"/>
                </a:solidFill>
                <a:latin typeface="Manrope"/>
              </a:defRPr>
            </a:pPr>
            <a:r>
              <a:t>  Missed call detection, outbound callbacks, WebSocket audio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🗣️  VOICE AI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Sarvam AI Saaras v3 — ASR, 22 languages, &lt;1s latency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Sarvam AI Bulbul v3 — TTS, 11 languages, 30+ voices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Bhashini — Government language platform (fallback)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89120" y="12000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⚙️  BACKEND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Python + FastAPI — Async, WebSocket support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Pipecat — Open-source voice pipeline framework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PostgreSQL — User profiles, call logs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Redis — Caching, session state, rate limiting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📊  DATA SOURCES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data.gov.in API — Daily mandi prices (3000+ markets)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IndianAPI.in — Weather forecasts (free)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MyScheme.gov.in — HuggingFace dataset (1000+ schemes)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📈  DASHBOARD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Streamlit — Call logs, analytics, user profiles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🚀  DEPLOYMENT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Docker + AWS EC2 (ap-south-1) — Low latency in India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/>
          <p:cNvSpPr txBox="1"/>
          <p:nvPr/>
        </p:nvSpPr>
        <p:spPr>
          <a:xfrm>
            <a:off x="311700" y="86355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729"/>
                </a:solidFill>
                <a:latin typeface="Manrope"/>
              </a:defRPr>
            </a:pPr>
            <a:r>
              <a:t>Estimated Implementation Cost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1700" y="120000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HACKATHON / MVP COST (100 calls/day):</a:t>
            </a:r>
          </a:p>
          <a:p>
            <a:pPr>
              <a:spcAft>
                <a:spcPts val="400"/>
              </a:spcAft>
              <a:defRPr sz="3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Exotel Telephony (100 calls × 2 min × ₹2/min)      ₹400/day    ~₹12,000/month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Sarvam AI ASR (3.3 hrs/day × ₹30/hr)                ₹100/day    ~₹3,000/month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Sarvam AI TTS (~100K chars/day)                      ₹50/day     ~₹1,500/month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Amazon Bedrock Claude (200 inferences/day)           ₹100/day    ~₹3,000/month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AWS EC2 (t3.medium, ap-south-1)                      ₹100/day    ~₹3,000/month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PostgreSQL + Redis (RDS + ElastiCache)               ₹50/day     ~₹1,500/month</a:t>
            </a:r>
          </a:p>
          <a:p>
            <a:pPr>
              <a:spcAft>
                <a:spcPts val="400"/>
              </a:spcAft>
              <a:defRPr sz="900" b="0">
                <a:solidFill>
                  <a:srgbClr val="0D8452"/>
                </a:solidFill>
                <a:latin typeface="Manrope"/>
              </a:defRPr>
            </a:pPr>
            <a:r>
              <a:t>data.gov.in, IndianAPI, Bhashini                     FREE        FREE</a:t>
            </a:r>
          </a:p>
          <a:p>
            <a:pPr>
              <a:spcAft>
                <a:spcPts val="400"/>
              </a:spcAft>
              <a:defRPr sz="800" b="0">
                <a:solidFill>
                  <a:srgbClr val="434343"/>
                </a:solidFill>
                <a:latin typeface="Manrope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000" b="1">
                <a:solidFill>
                  <a:srgbClr val="202729"/>
                </a:solidFill>
                <a:latin typeface="Manrope"/>
              </a:defRPr>
            </a:pPr>
            <a:r>
              <a:t>TOTAL (MVP)                                          ~₹800/day   ~₹24,000/month</a:t>
            </a:r>
          </a:p>
          <a:p>
            <a:pPr>
              <a:spcAft>
                <a:spcPts val="400"/>
              </a:spcAft>
              <a:defRPr sz="6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COST PER FARMER INTERACTION:  ~₹8 per call (2 min avg)</a:t>
            </a:r>
          </a:p>
          <a:p>
            <a:pPr>
              <a:spcAft>
                <a:spcPts val="400"/>
              </a:spcAft>
              <a:defRPr sz="1100" b="1">
                <a:solidFill>
                  <a:srgbClr val="0D8452"/>
                </a:solidFill>
                <a:latin typeface="Manrope"/>
              </a:defRPr>
            </a:pPr>
            <a:r>
              <a:t>VALUE PER FARMER INTERACTION: ₹100-1000+ (better prices, scheme access)</a:t>
            </a:r>
          </a:p>
          <a:p>
            <a:pPr>
              <a:spcAft>
                <a:spcPts val="400"/>
              </a:spcAft>
              <a:defRPr sz="4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HACKATHON FREE TIER:</a:t>
            </a:r>
          </a:p>
          <a:p>
            <a:pPr>
              <a:spcAft>
                <a:spcPts val="400"/>
              </a:spcAft>
              <a:defRPr sz="900" b="0">
                <a:solidFill>
                  <a:srgbClr val="202729"/>
                </a:solidFill>
                <a:latin typeface="Manrope"/>
              </a:defRPr>
            </a:pPr>
            <a:r>
              <a:t>Exotel trial: ₹1,000 free | Sarvam AI: ₹1,000 free | AWS hackathon credits: TBD</a:t>
            </a:r>
          </a:p>
          <a:p>
            <a:pPr>
              <a:spcAft>
                <a:spcPts val="400"/>
              </a:spcAft>
              <a:defRPr sz="1000" b="1">
                <a:solidFill>
                  <a:srgbClr val="0D8452"/>
                </a:solidFill>
                <a:latin typeface="Manrope"/>
              </a:defRPr>
            </a:pPr>
            <a:r>
              <a:t>Total hackathon cost: Effectively ₹0 with free tiers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311700" y="86355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729"/>
                </a:solidFill>
                <a:latin typeface="Manrope"/>
              </a:defRPr>
            </a:pPr>
            <a:r>
              <a:t>Impact &amp; Scalability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11700" y="12000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IMMEDIATE IMPACT:</a:t>
            </a:r>
          </a:p>
          <a:p>
            <a:pPr>
              <a:spcAft>
                <a:spcPts val="400"/>
              </a:spcAft>
              <a:defRPr sz="2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• 300M+ feature phone users can access AI for the first time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• Farmers save 15-20% income lost to price information asymmetry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• ₹2.4 lakh crore in unclaimed govt schemes become discoverable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• Proactive weather alerts prevent crop losses worth thousands per farmer</a:t>
            </a:r>
          </a:p>
          <a:p>
            <a:pPr>
              <a:spcAft>
                <a:spcPts val="400"/>
              </a:spcAft>
              <a:defRPr sz="4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SCALABILITY:</a:t>
            </a:r>
          </a:p>
          <a:p>
            <a:pPr>
              <a:spcAft>
                <a:spcPts val="400"/>
              </a:spcAft>
              <a:defRPr sz="2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• Zero marginal distribution cost — no app store, no downloads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• One phone number scales to all of India (Exotel handles routing)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• Sarvam AI + Bhashini cover 22 Indian languages — same system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• Farmer profiles improve with every call — network effect on intelligence</a:t>
            </a:r>
          </a:p>
          <a:p>
            <a:pPr>
              <a:spcAft>
                <a:spcPts val="400"/>
              </a:spcAft>
              <a:defRPr sz="1000" b="0">
                <a:solidFill>
                  <a:srgbClr val="202729"/>
                </a:solidFill>
                <a:latin typeface="Manrope"/>
              </a:defRPr>
            </a:pPr>
            <a:r>
              <a:t>• Government integration ready: AgriStack, ONDC, eNAM, PM-KISAN</a:t>
            </a:r>
          </a:p>
          <a:p>
            <a:pPr>
              <a:spcAft>
                <a:spcPts val="400"/>
              </a:spcAft>
              <a:defRPr sz="4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1A73E8"/>
                </a:solidFill>
                <a:latin typeface="Manrope"/>
              </a:defRPr>
            </a:pPr>
            <a:r>
              <a:t>THE VISION:</a:t>
            </a:r>
          </a:p>
          <a:p>
            <a:pPr>
              <a:spcAft>
                <a:spcPts val="400"/>
              </a:spcAft>
              <a:defRPr sz="2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202729"/>
                </a:solidFill>
                <a:latin typeface="Manrope"/>
              </a:defRPr>
            </a:pPr>
            <a:r>
              <a:t>'Every farmer in India, one missed call away from AI.'</a:t>
            </a:r>
          </a:p>
          <a:p>
            <a:pPr>
              <a:spcAft>
                <a:spcPts val="400"/>
              </a:spcAft>
              <a:defRPr sz="1000" b="0">
                <a:solidFill>
                  <a:srgbClr val="434343"/>
                </a:solidFill>
                <a:latin typeface="Manrope"/>
              </a:defRPr>
            </a:pPr>
            <a:r>
              <a:t>If we reach 1% of rural India = 3 million farmers.</a:t>
            </a:r>
          </a:p>
          <a:p>
            <a:pPr>
              <a:spcAft>
                <a:spcPts val="400"/>
              </a:spcAft>
              <a:defRPr sz="1000" b="0">
                <a:solidFill>
                  <a:srgbClr val="434343"/>
                </a:solidFill>
                <a:latin typeface="Manrope"/>
              </a:defRPr>
            </a:pPr>
            <a:r>
              <a:t>At ₹8/call, 3M farmers × 30 calls/year = ₹72 crore annual cost.</a:t>
            </a:r>
          </a:p>
          <a:p>
            <a:pPr>
              <a:spcAft>
                <a:spcPts val="400"/>
              </a:spcAft>
              <a:defRPr sz="1000" b="0">
                <a:solidFill>
                  <a:srgbClr val="0D8452"/>
                </a:solidFill>
                <a:latin typeface="Manrope"/>
              </a:defRPr>
            </a:pPr>
            <a:r>
              <a:t>Value created: ₹3,000+ per farmer per year = ₹900+ crore value.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29200" y="1200000"/>
            <a:ext cx="3200400" cy="292608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anrope"/>
              </a:defRPr>
            </a:pPr>
            <a:r>
              <a:t>&lt; IMAGE: India map visualization — Heat map showing rural population density. Concentric circles expanding from one phone icon at center, reaching outward across India. Stats overlaid: '300M+ reach', '22 languages', '1,266 mandis', '1,000+ schemes'. Arrow showing growth trajectory from MVP (100 farmers) to Scale (3M farmers). 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1371600" y="1097280"/>
            <a:ext cx="5486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73E8"/>
                </a:solidFill>
                <a:latin typeface="Manrope"/>
              </a:defRPr>
            </a:pPr>
            <a:r>
              <a:t>GRAM SATHI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1645920"/>
            <a:ext cx="6400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02729"/>
                </a:solidFill>
                <a:latin typeface="Manrope"/>
              </a:defRPr>
            </a:pPr>
            <a:r>
              <a:t>One missed call. Zero cost. Real data. Their language.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71600" y="2103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A73E8"/>
                </a:solidFill>
                <a:latin typeface="Manrope"/>
              </a:defRPr>
            </a:pPr>
            <a:r>
              <a:t>LIVE DEMO:</a:t>
            </a:r>
          </a:p>
          <a:p>
            <a:pPr>
              <a:spcAft>
                <a:spcPts val="400"/>
              </a:spcAft>
              <a:defRPr sz="1200" b="0">
                <a:solidFill>
                  <a:srgbClr val="202729"/>
                </a:solidFill>
                <a:latin typeface="Manrope"/>
              </a:defRPr>
            </a:pPr>
            <a:r>
              <a:t>Watch us call a farmer right now.</a:t>
            </a:r>
          </a:p>
          <a:p>
            <a:pPr>
              <a:spcAft>
                <a:spcPts val="400"/>
              </a:spcAft>
              <a:defRPr sz="800" b="0">
                <a:solidFill>
                  <a:srgbClr val="202729"/>
                </a:solidFill>
                <a:latin typeface="Manrope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434343"/>
                </a:solidFill>
                <a:latin typeface="Manrope"/>
              </a:defRPr>
            </a:pPr>
            <a:r>
              <a:t>Team: &lt; Your Team Name &gt;</a:t>
            </a:r>
          </a:p>
          <a:p>
            <a:pPr>
              <a:spcAft>
                <a:spcPts val="400"/>
              </a:spcAft>
              <a:defRPr sz="1100" b="0">
                <a:solidFill>
                  <a:srgbClr val="434343"/>
                </a:solidFill>
                <a:latin typeface="Manrope"/>
              </a:defRPr>
            </a:pPr>
            <a:r>
              <a:t>Theme: AI for Rural Innovation &amp; Sustainable Systems</a:t>
            </a:r>
          </a:p>
          <a:p>
            <a:pPr>
              <a:spcAft>
                <a:spcPts val="400"/>
              </a:spcAft>
              <a:defRPr sz="1100" b="0">
                <a:solidFill>
                  <a:srgbClr val="434343"/>
                </a:solidFill>
                <a:latin typeface="Manrope"/>
              </a:defRPr>
            </a:pPr>
            <a:r>
              <a:t>Built with: Amazon Bedrock | Amazon Q | Exotel | Sarvam AI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286000" y="3291840"/>
            <a:ext cx="3657600" cy="73152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73E8"/>
                </a:solidFill>
                <a:latin typeface="Manrope"/>
              </a:defRPr>
            </a:pPr>
            <a:r>
              <a:t>&lt; IMAGE: Phone icon with incoming call animation. Text overlay: 'Gram Sathi calling...' in Hindi script. 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